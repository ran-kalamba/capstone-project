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1" r:id="rId4"/>
    <p:sldId id="259" r:id="rId5"/>
    <p:sldId id="262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79" y="1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Patients</c:v>
          </c:tx>
          <c:spPr>
            <a:solidFill>
              <a:srgbClr val="2563E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0F766E"/>
              </a:solidFill>
            </c:spPr>
            <c:extLst>
              <c:ext xmlns:c16="http://schemas.microsoft.com/office/drawing/2014/chart" uri="{C3380CC4-5D6E-409C-BE32-E72D297353CC}">
                <c16:uniqueId val="{00000001-F298-4401-96C4-A6550869ADFD}"/>
              </c:ext>
            </c:extLst>
          </c:dPt>
          <c:dPt>
            <c:idx val="1"/>
            <c:invertIfNegative val="0"/>
            <c:bubble3D val="0"/>
            <c:spPr>
              <a:solidFill>
                <a:srgbClr val="BE123C"/>
              </a:solidFill>
            </c:spPr>
            <c:extLst>
              <c:ext xmlns:c16="http://schemas.microsoft.com/office/drawing/2014/chart" uri="{C3380CC4-5D6E-409C-BE32-E72D297353CC}">
                <c16:uniqueId val="{00000003-F298-4401-96C4-A6550869ADFD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5-F298-4401-96C4-A6550869ADF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F298-4401-96C4-A6550869ADF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Correctly not flagged</c:v>
              </c:pt>
              <c:pt idx="1">
                <c:v>Unnecessary alerts</c:v>
              </c:pt>
              <c:pt idx="2">
                <c:v>Missed readmissions</c:v>
              </c:pt>
              <c:pt idx="3">
                <c:v>Detected readmissions</c:v>
              </c:pt>
            </c:strLit>
          </c:cat>
          <c:val>
            <c:numLit>
              <c:formatCode>General</c:formatCode>
              <c:ptCount val="4"/>
              <c:pt idx="0">
                <c:v>7065</c:v>
              </c:pt>
              <c:pt idx="1">
                <c:v>5675</c:v>
              </c:pt>
              <c:pt idx="2">
                <c:v>419</c:v>
              </c:pt>
              <c:pt idx="3">
                <c:v>836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7-F298-4401-96C4-A6550869AD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00">
                <a:solidFill>
                  <a:srgbClr val="666666"/>
                </a:solidFill>
                <a:latin typeface="Arial Rounded MT Bold" panose="020F0704030504030204" pitchFamily="34" charset="0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151356080489918E-2"/>
          <c:y val="0.1306843351898086"/>
          <c:w val="0.91484864391951004"/>
          <c:h val="0.80410703540106265"/>
        </c:manualLayout>
      </c:layout>
      <c:barChart>
        <c:barDir val="col"/>
        <c:grouping val="clustered"/>
        <c:varyColors val="0"/>
        <c:ser>
          <c:idx val="0"/>
          <c:order val="0"/>
          <c:tx>
            <c:v>Selection rate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0–39</c:v>
              </c:pt>
              <c:pt idx="1">
                <c:v>40–59</c:v>
              </c:pt>
              <c:pt idx="2">
                <c:v>60–79</c:v>
              </c:pt>
              <c:pt idx="3">
                <c:v>80+</c:v>
              </c:pt>
            </c:strLit>
          </c:cat>
          <c:val>
            <c:numLit>
              <c:formatCode>0%</c:formatCode>
              <c:ptCount val="4"/>
              <c:pt idx="0">
                <c:v>0.23599999999999999</c:v>
              </c:pt>
              <c:pt idx="1">
                <c:v>0.28499999999999998</c:v>
              </c:pt>
              <c:pt idx="2">
                <c:v>0.50800000000000001</c:v>
              </c:pt>
              <c:pt idx="3">
                <c:v>0.69599999999999995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DBF-4854-AF9A-0B95697D24C4}"/>
            </c:ext>
          </c:extLst>
        </c:ser>
        <c:ser>
          <c:idx val="1"/>
          <c:order val="1"/>
          <c:tx>
            <c:v>Recall</c:v>
          </c:tx>
          <c:spPr>
            <a:solidFill>
              <a:srgbClr val="0F766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0–39</c:v>
              </c:pt>
              <c:pt idx="1">
                <c:v>40–59</c:v>
              </c:pt>
              <c:pt idx="2">
                <c:v>60–79</c:v>
              </c:pt>
              <c:pt idx="3">
                <c:v>80+</c:v>
              </c:pt>
            </c:strLit>
          </c:cat>
          <c:val>
            <c:numLit>
              <c:formatCode>0%</c:formatCode>
              <c:ptCount val="4"/>
              <c:pt idx="0">
                <c:v>0.54200000000000004</c:v>
              </c:pt>
              <c:pt idx="1">
                <c:v>0.498</c:v>
              </c:pt>
              <c:pt idx="2">
                <c:v>0.68700000000000006</c:v>
              </c:pt>
              <c:pt idx="3">
                <c:v>0.82699999999999996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DBF-4854-AF9A-0B95697D24C4}"/>
            </c:ext>
          </c:extLst>
        </c:ser>
        <c:ser>
          <c:idx val="2"/>
          <c:order val="2"/>
          <c:tx>
            <c:v>False-positive rate</c:v>
          </c:tx>
          <c:spPr>
            <a:solidFill>
              <a:srgbClr val="BE123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0–39</c:v>
              </c:pt>
              <c:pt idx="1">
                <c:v>40–59</c:v>
              </c:pt>
              <c:pt idx="2">
                <c:v>60–79</c:v>
              </c:pt>
              <c:pt idx="3">
                <c:v>80+</c:v>
              </c:pt>
            </c:strLit>
          </c:cat>
          <c:val>
            <c:numLit>
              <c:formatCode>0%</c:formatCode>
              <c:ptCount val="4"/>
              <c:pt idx="0">
                <c:v>0.218</c:v>
              </c:pt>
              <c:pt idx="1">
                <c:v>0.26800000000000002</c:v>
              </c:pt>
              <c:pt idx="2">
                <c:v>0.48899999999999999</c:v>
              </c:pt>
              <c:pt idx="3">
                <c:v>0.68200000000000005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DBF-4854-AF9A-0B95697D24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>
              <a:latin typeface="Bitstream Charter"/>
              <a:ea typeface="Bitstream Charter"/>
              <a:cs typeface="Bitstream Charter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E9C61-F7AE-F08C-ACE6-AE62A0E90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C6DC3-8302-B802-EC10-6CB32E154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624F2-D7A0-636E-6E78-60755DEC9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B157-5E49-9550-5CB5-3B882F032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88962-33DF-01EC-615E-05F26DF3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7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83EC-8E4D-06BE-8D86-B282BE2B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05E7-683B-2529-4E47-6EF0118BF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EB3CA-4606-945A-E034-5CD2B796B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C16A5-05E3-8E29-545B-741BFC3C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3950B-8E01-112D-4344-F7DCCFE4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7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AFA9-2112-AD59-143C-C40BF93AF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9B29A-78A8-85B9-1FFB-124689654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92672-6AC8-D0BA-ABEB-74285995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BBC69-2377-50B7-0A5D-A7BBED2B9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B5296-F0CB-EE6D-2C6B-98EA4195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1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22F2-C92C-CF0A-C469-F207BDF9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128C1-4458-4AB3-E120-1AC1E31F6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2A92B-4EC9-B422-D876-94D7E0053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4CCD6-FB36-D269-19EF-72B8D028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51810-FBDB-1DB7-84FD-5D92D8E85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7374B-DA40-3552-7E59-5301DFD9A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9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2910-3D8F-6536-211D-66CD8AB12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A68F5-BC6D-FA65-4948-D5DBBF009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5485E-12A4-AF1F-54DB-1F0EFE462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F054D-E299-7192-E45D-454174162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945C6-6A33-A403-C088-75DCE0B23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8372C3-8274-4744-2689-54396569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5064AC-49E4-72EF-8D3E-C49B1AD2A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FC01A-8537-37A8-31F6-60B03996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4042-5902-9027-39D3-84CF0BF8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07D16-037C-63E1-F817-22F1200BC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0444C-7D4C-B900-9482-0A09C4B0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3111E-2DF5-0CEE-C5A2-6F54DB61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5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D26F9-C657-73A5-35A9-7B4B28886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B059F-1040-354F-ADF0-A2E12EDC0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FA7E4-2B1F-D008-5D7A-0765AB3E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9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D5DC-2AB5-735D-D006-13FBA12E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1480D-2CB8-E93D-CC64-A0FBE8F7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3E27A-699C-78EE-325C-5A3875416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C8F3F-1433-AB44-F1AF-ED12057CD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E393B-856D-2D1A-0D6C-0552570E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A7C8B-4162-D81C-FDDE-DE70F428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FEC0-EFBC-53D8-50EA-B4C9BF96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978F4-543C-B314-EC9F-F1A8A8C9C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8D85C-F5DC-47C5-E007-E069F6BF9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500C4-19B2-726D-0C95-27273747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91C92-923E-F99E-7DA5-C51334D93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AD7A3-65DF-B5A0-CD22-28FDAEF2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7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283B-3611-CAD3-9E27-98AD9F53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24EB7-A768-4803-F3F6-5439A8E09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7703C-AC0A-DE0B-59A6-0AC95638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9FA39-E2C6-E0D7-D24E-06767E49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0BA9C-843D-D5B1-E578-6E402AA5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3FFDC8-A497-D3BF-E9CE-516FE8BD2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C3D3E-FC68-0FF7-7E40-9A52F6E62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3915-273E-98AA-9BF2-613031C2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DA830-D493-C5D7-FF14-B8214C88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D3431-4B44-1DD5-E69E-4B1B86FA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8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A3C1C-D6DE-4243-62DE-AB84301AB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45B45-0C04-2F54-D8E2-9A7257EAA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B7385-79F1-2AD2-F8E3-65EFA6D52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33664-E9FE-4F71-89A0-41CF932A7C2C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D81EB-20A2-ACE6-1D06-C21758B29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EDCFB-AA8E-34D2-A78C-C02FA26A1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8CB24-C4FB-42CB-8244-D3B62725D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0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DFFD77-5F96-89D4-6576-B54122FEA6B4}"/>
              </a:ext>
            </a:extLst>
          </p:cNvPr>
          <p:cNvSpPr/>
          <p:nvPr/>
        </p:nvSpPr>
        <p:spPr>
          <a:xfrm>
            <a:off x="116378" y="224444"/>
            <a:ext cx="11829011" cy="621792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7D74F-023B-C9CB-2342-DC661A4AE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193800"/>
            <a:ext cx="9144000" cy="2387600"/>
          </a:xfrm>
        </p:spPr>
        <p:txBody>
          <a:bodyPr/>
          <a:lstStyle/>
          <a:p>
            <a:r>
              <a:rPr lang="en-US" dirty="0"/>
              <a:t>30 day Readmission Risk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9C734-E456-396B-52E8-0D85830EB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86582"/>
            <a:ext cx="9144000" cy="252444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An evidence-based proposal for targeted post-discharge support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Executive Presentation</a:t>
            </a:r>
            <a:endParaRPr lang="en-US" dirty="0"/>
          </a:p>
          <a:p>
            <a:r>
              <a:rPr lang="en-US" sz="1800" dirty="0"/>
              <a:t>Kavishna Ranmali Kalamba Arachchi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7E6DEE-CDE2-82BC-FDC1-11F963478C3D}"/>
              </a:ext>
            </a:extLst>
          </p:cNvPr>
          <p:cNvSpPr txBox="1">
            <a:spLocks/>
          </p:cNvSpPr>
          <p:nvPr/>
        </p:nvSpPr>
        <p:spPr>
          <a:xfrm>
            <a:off x="1767840" y="4631069"/>
            <a:ext cx="9144000" cy="2524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Should the hospital pilot a model that helps prioritize scarce transition-of-care support?</a:t>
            </a:r>
          </a:p>
          <a:p>
            <a:endParaRPr lang="en-US" b="1" dirty="0"/>
          </a:p>
          <a:p>
            <a:r>
              <a:rPr lang="en-US" sz="1800" b="1" dirty="0"/>
              <a:t>Recommendation : proceed only as a monitored supportive-outreach pilot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63457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ED2E2-CF65-311B-B1DF-96B101AF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16BA71-78DF-0C04-6218-7D279A8EE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14A0403-BB25-EF8A-B849-66FA37BB9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5910F0-FBA4-8C91-2603-3F1C7F4BD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FC29AF-9FE1-4BC6-F169-6A580023C5DB}"/>
              </a:ext>
            </a:extLst>
          </p:cNvPr>
          <p:cNvSpPr txBox="1">
            <a:spLocks/>
          </p:cNvSpPr>
          <p:nvPr/>
        </p:nvSpPr>
        <p:spPr>
          <a:xfrm>
            <a:off x="425824" y="274745"/>
            <a:ext cx="91920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/>
              <a:t>A Risk Score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help</a:t>
            </a:r>
            <a:r>
              <a:rPr lang="sv-SE" dirty="0"/>
              <a:t> focus support at discharge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437C0A-C459-3D22-1315-F8FB7C315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504" y="2031203"/>
            <a:ext cx="10515600" cy="709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Proposed workflow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4B2702-74E1-89C7-BD9E-4405E3F744AA}"/>
              </a:ext>
            </a:extLst>
          </p:cNvPr>
          <p:cNvSpPr>
            <a:spLocks noGrp="1"/>
          </p:cNvSpPr>
          <p:nvPr/>
        </p:nvSpPr>
        <p:spPr>
          <a:xfrm>
            <a:off x="684415" y="2624394"/>
            <a:ext cx="2333625" cy="123825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8E0EA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2AF38-5810-5408-1867-C97730FE2D78}"/>
              </a:ext>
            </a:extLst>
          </p:cNvPr>
          <p:cNvSpPr>
            <a:spLocks noGrp="1"/>
          </p:cNvSpPr>
          <p:nvPr/>
        </p:nvSpPr>
        <p:spPr>
          <a:xfrm>
            <a:off x="3399040" y="2624394"/>
            <a:ext cx="2333625" cy="123825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8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AA1E37A-9041-BACC-32E6-37F06C709D65}"/>
              </a:ext>
            </a:extLst>
          </p:cNvPr>
          <p:cNvSpPr>
            <a:spLocks noGrp="1"/>
          </p:cNvSpPr>
          <p:nvPr/>
        </p:nvSpPr>
        <p:spPr>
          <a:xfrm>
            <a:off x="6113665" y="2624394"/>
            <a:ext cx="2333625" cy="123825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8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64F66AE-07F3-8227-231E-916503F03C80}"/>
              </a:ext>
            </a:extLst>
          </p:cNvPr>
          <p:cNvSpPr>
            <a:spLocks noGrp="1"/>
          </p:cNvSpPr>
          <p:nvPr/>
        </p:nvSpPr>
        <p:spPr>
          <a:xfrm>
            <a:off x="8828290" y="2624394"/>
            <a:ext cx="2333625" cy="123825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D8E0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D2F2687E-EA77-5FC6-ADD1-37BCECE84EB2}"/>
              </a:ext>
            </a:extLst>
          </p:cNvPr>
          <p:cNvSpPr/>
          <p:nvPr/>
        </p:nvSpPr>
        <p:spPr>
          <a:xfrm>
            <a:off x="2849707" y="2994049"/>
            <a:ext cx="665018" cy="4894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6DE92D1-C018-5EEC-954D-63A932EEDF53}"/>
              </a:ext>
            </a:extLst>
          </p:cNvPr>
          <p:cNvSpPr/>
          <p:nvPr/>
        </p:nvSpPr>
        <p:spPr>
          <a:xfrm>
            <a:off x="5616115" y="2939585"/>
            <a:ext cx="665018" cy="4894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92C4BE2F-1787-AC2E-70B2-682A40EAAE80}"/>
              </a:ext>
            </a:extLst>
          </p:cNvPr>
          <p:cNvSpPr/>
          <p:nvPr/>
        </p:nvSpPr>
        <p:spPr>
          <a:xfrm>
            <a:off x="8353772" y="2911526"/>
            <a:ext cx="665018" cy="4894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58354-2A41-0EBB-4DB6-F104CBEB9E6C}"/>
              </a:ext>
            </a:extLst>
          </p:cNvPr>
          <p:cNvSpPr txBox="1"/>
          <p:nvPr/>
        </p:nvSpPr>
        <p:spPr>
          <a:xfrm>
            <a:off x="957869" y="2854615"/>
            <a:ext cx="1701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DISCHARGE</a:t>
            </a:r>
          </a:p>
          <a:p>
            <a:pPr algn="ctr"/>
            <a:endParaRPr lang="en-US" sz="1500" dirty="0"/>
          </a:p>
          <a:p>
            <a:pPr algn="ctr"/>
            <a:r>
              <a:rPr lang="en-US" sz="1500" dirty="0"/>
              <a:t>Score available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19CEE-F3F3-073C-235F-123BABA656DC}"/>
              </a:ext>
            </a:extLst>
          </p:cNvPr>
          <p:cNvSpPr txBox="1"/>
          <p:nvPr/>
        </p:nvSpPr>
        <p:spPr>
          <a:xfrm>
            <a:off x="3680286" y="2847785"/>
            <a:ext cx="170133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REVIEW</a:t>
            </a:r>
          </a:p>
          <a:p>
            <a:pPr algn="ctr"/>
            <a:endParaRPr lang="en-US" sz="1500" dirty="0"/>
          </a:p>
          <a:p>
            <a:pPr algn="ctr"/>
            <a:r>
              <a:rPr lang="en-US" sz="1500" dirty="0"/>
              <a:t>Clinicians confirm need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19140-CFC8-21F2-9D17-E16EBF8614A3}"/>
              </a:ext>
            </a:extLst>
          </p:cNvPr>
          <p:cNvSpPr txBox="1"/>
          <p:nvPr/>
        </p:nvSpPr>
        <p:spPr>
          <a:xfrm>
            <a:off x="6461934" y="2800815"/>
            <a:ext cx="170133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SUPPORT</a:t>
            </a:r>
          </a:p>
          <a:p>
            <a:pPr algn="ctr"/>
            <a:endParaRPr lang="en-US" sz="1500" dirty="0"/>
          </a:p>
          <a:p>
            <a:pPr algn="ctr"/>
            <a:r>
              <a:rPr lang="en-US" sz="1500" dirty="0"/>
              <a:t>Offer added follow-up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A64D7-4D0E-FBA8-8A2F-BBD8D38BAE6B}"/>
              </a:ext>
            </a:extLst>
          </p:cNvPr>
          <p:cNvSpPr txBox="1"/>
          <p:nvPr/>
        </p:nvSpPr>
        <p:spPr>
          <a:xfrm>
            <a:off x="9144433" y="2800814"/>
            <a:ext cx="170133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LEARN</a:t>
            </a:r>
          </a:p>
          <a:p>
            <a:pPr algn="ctr"/>
            <a:endParaRPr lang="en-US" sz="1500" dirty="0"/>
          </a:p>
          <a:p>
            <a:pPr algn="ctr"/>
            <a:r>
              <a:rPr lang="en-US" sz="1500" dirty="0"/>
              <a:t>Measure outcomes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770444-DE8F-6914-CE68-304B1821CAFA}"/>
              </a:ext>
            </a:extLst>
          </p:cNvPr>
          <p:cNvSpPr txBox="1"/>
          <p:nvPr/>
        </p:nvSpPr>
        <p:spPr>
          <a:xfrm>
            <a:off x="1379912" y="4659715"/>
            <a:ext cx="6666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Potential services: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Discharge counselling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Early appointment confirmation and care-management calls</a:t>
            </a:r>
          </a:p>
        </p:txBody>
      </p:sp>
    </p:spTree>
    <p:extLst>
      <p:ext uri="{BB962C8B-B14F-4D97-AF65-F5344CB8AC3E}">
        <p14:creationId xmlns:p14="http://schemas.microsoft.com/office/powerpoint/2010/main" val="3685389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A64CF-FFCB-59C4-A9BA-EA8AB1B0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7394CD-9E37-BEAB-1076-BDBC8CF10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FD578E1-E39F-8401-6370-A75EEA968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C3330FA-A00F-365F-66C7-B00763051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19C792-69C5-2B2E-94FB-7CE2DF95A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55" y="-150264"/>
            <a:ext cx="10515600" cy="1325563"/>
          </a:xfrm>
        </p:spPr>
        <p:txBody>
          <a:bodyPr/>
          <a:lstStyle/>
          <a:p>
            <a:r>
              <a:rPr lang="en-US" dirty="0"/>
              <a:t>Evidence : Large and Historical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DBB8A8-B7F3-A872-D21B-9CA702820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887" y="1945458"/>
            <a:ext cx="10724804" cy="39651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scope </a:t>
            </a:r>
            <a:r>
              <a:rPr lang="en-US" sz="1500" dirty="0"/>
              <a:t>:</a:t>
            </a:r>
          </a:p>
          <a:p>
            <a:r>
              <a:rPr lang="en-US" sz="1500" dirty="0"/>
              <a:t>130 hospitals</a:t>
            </a:r>
          </a:p>
          <a:p>
            <a:r>
              <a:rPr lang="en-US" sz="1500" dirty="0"/>
              <a:t>Care period : 1998 – 2008</a:t>
            </a:r>
          </a:p>
          <a:p>
            <a:r>
              <a:rPr lang="en-US" sz="1500" dirty="0"/>
              <a:t>Patients in analytic cohort : 69, 973</a:t>
            </a:r>
          </a:p>
          <a:p>
            <a:r>
              <a:rPr lang="en-US" sz="1500" dirty="0"/>
              <a:t>30-day readmission prevalence : 8.97%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500" b="1" dirty="0"/>
              <a:t>Strengths : </a:t>
            </a:r>
          </a:p>
          <a:p>
            <a:r>
              <a:rPr lang="en-US" sz="1500" dirty="0"/>
              <a:t>Public, deidentified multicenter dataset</a:t>
            </a:r>
          </a:p>
          <a:p>
            <a:r>
              <a:rPr lang="en-US" sz="1500" dirty="0" err="1"/>
              <a:t>Heldout</a:t>
            </a:r>
            <a:r>
              <a:rPr lang="en-US" sz="1500" dirty="0"/>
              <a:t> test of 13, 995 patients</a:t>
            </a:r>
          </a:p>
          <a:p>
            <a:r>
              <a:rPr lang="en-US" sz="1500" dirty="0"/>
              <a:t>Preprocessing &amp; threshold selection was done on training-only set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500" b="1" dirty="0"/>
              <a:t>Constraints:</a:t>
            </a:r>
          </a:p>
          <a:p>
            <a:r>
              <a:rPr lang="en-US" sz="1500" dirty="0"/>
              <a:t>Historical data, so may not match current care</a:t>
            </a:r>
          </a:p>
          <a:p>
            <a:r>
              <a:rPr lang="en-US" sz="1500" dirty="0"/>
              <a:t>Readmission patterns outside network may be missed</a:t>
            </a:r>
          </a:p>
          <a:p>
            <a:r>
              <a:rPr lang="en-US" sz="1500" dirty="0"/>
              <a:t>No socioeconomic labels and coarse demographic labels used</a:t>
            </a:r>
          </a:p>
        </p:txBody>
      </p:sp>
    </p:spTree>
    <p:extLst>
      <p:ext uri="{BB962C8B-B14F-4D97-AF65-F5344CB8AC3E}">
        <p14:creationId xmlns:p14="http://schemas.microsoft.com/office/powerpoint/2010/main" val="4120394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9F5CD-70AD-3763-538C-94DF968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70" y="157504"/>
            <a:ext cx="10367781" cy="1330841"/>
          </a:xfrm>
        </p:spPr>
        <p:txBody>
          <a:bodyPr>
            <a:normAutofit/>
          </a:bodyPr>
          <a:lstStyle/>
          <a:p>
            <a:r>
              <a:rPr lang="en-US" dirty="0"/>
              <a:t>The model finds two-thirds of early readmissions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2DDD-7BB4-80F6-DBB8-DD473A6FA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Heldout</a:t>
            </a:r>
            <a:r>
              <a:rPr lang="en-US" sz="2000" dirty="0"/>
              <a:t> test performance :</a:t>
            </a:r>
          </a:p>
          <a:p>
            <a:r>
              <a:rPr lang="en-US" sz="2000" dirty="0"/>
              <a:t>66.6 % of early readmissions identified</a:t>
            </a:r>
          </a:p>
          <a:p>
            <a:r>
              <a:rPr lang="en-US" sz="2000" dirty="0"/>
              <a:t>12.8% of alerts were true readmissions</a:t>
            </a:r>
          </a:p>
          <a:p>
            <a:r>
              <a:rPr lang="en-US" sz="2000" dirty="0"/>
              <a:t>Average Precision (AP) : 0.183</a:t>
            </a:r>
          </a:p>
          <a:p>
            <a:r>
              <a:rPr lang="en-US" sz="2000" dirty="0"/>
              <a:t>Model is 2.04x the prevalence-level AP baseline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92204-4F9C-9E0E-D855-B239FC37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977671" y="1836976"/>
            <a:ext cx="4788505" cy="3675176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59AEE6-12F1-6555-D6CA-F4E7166A3DA0}"/>
              </a:ext>
            </a:extLst>
          </p:cNvPr>
          <p:cNvSpPr txBox="1"/>
          <p:nvPr/>
        </p:nvSpPr>
        <p:spPr>
          <a:xfrm>
            <a:off x="1137034" y="4736565"/>
            <a:ext cx="6641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this means: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model provides moderate ranking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low threshold </a:t>
            </a:r>
            <a:r>
              <a:rPr lang="en-US" sz="2000" dirty="0" err="1"/>
              <a:t>favours</a:t>
            </a:r>
            <a:r>
              <a:rPr lang="en-US" sz="2000" dirty="0"/>
              <a:t> sensitivity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Many alerts will not result in a readmission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operating point must match outreach capacity </a:t>
            </a:r>
          </a:p>
        </p:txBody>
      </p:sp>
    </p:spTree>
    <p:extLst>
      <p:ext uri="{BB962C8B-B14F-4D97-AF65-F5344CB8AC3E}">
        <p14:creationId xmlns:p14="http://schemas.microsoft.com/office/powerpoint/2010/main" val="166443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4DEE2-4E8E-9AD9-72DC-CE6DB0DFB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622CA5-46FF-4623-CF74-03A82E073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327F7E7-4941-7F7F-DF22-9B706A750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43961-18C2-7AC5-8339-4EA41100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70" y="157504"/>
            <a:ext cx="10367781" cy="1330841"/>
          </a:xfrm>
        </p:spPr>
        <p:txBody>
          <a:bodyPr>
            <a:normAutofit/>
          </a:bodyPr>
          <a:lstStyle/>
          <a:p>
            <a:r>
              <a:rPr lang="en-US" dirty="0"/>
              <a:t>Current threshold flags 46.5% of test population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3640518-94DB-CCAE-E247-1BBF219EC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1075B625-AA25-6B0F-01C1-17BCFE5D7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85746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91F37856-054E-5C5C-78E1-C7874CC1523B}"/>
              </a:ext>
            </a:extLst>
          </p:cNvPr>
          <p:cNvSpPr txBox="1"/>
          <p:nvPr/>
        </p:nvSpPr>
        <p:spPr>
          <a:xfrm>
            <a:off x="7470570" y="1659299"/>
            <a:ext cx="40961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6,511 patients flagged for outreach</a:t>
            </a:r>
          </a:p>
          <a:p>
            <a:r>
              <a:rPr lang="en-US" b="1" dirty="0"/>
              <a:t>(46.5% of test cohort)</a:t>
            </a:r>
          </a:p>
          <a:p>
            <a:endParaRPr lang="en-US" b="1" dirty="0"/>
          </a:p>
          <a:p>
            <a:r>
              <a:rPr lang="en-US" b="1" dirty="0"/>
              <a:t>Capacity question : </a:t>
            </a:r>
            <a:r>
              <a:rPr lang="en-US" dirty="0"/>
              <a:t>How many patients can the hospital contact, and what is the cost-benefit analysis of such interventions?</a:t>
            </a:r>
          </a:p>
        </p:txBody>
      </p:sp>
    </p:spTree>
    <p:extLst>
      <p:ext uri="{BB962C8B-B14F-4D97-AF65-F5344CB8AC3E}">
        <p14:creationId xmlns:p14="http://schemas.microsoft.com/office/powerpoint/2010/main" val="413842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5251-8756-8C24-1937-93034269A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8FAE2AF-5070-1C4B-1306-4E367F0B7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8546222-D4D0-347A-CF1D-1C45BF6B8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057F8-20AD-DB16-42FE-32BAC63D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70" y="157504"/>
            <a:ext cx="10367781" cy="1330841"/>
          </a:xfrm>
        </p:spPr>
        <p:txBody>
          <a:bodyPr>
            <a:normAutofit/>
          </a:bodyPr>
          <a:lstStyle/>
          <a:p>
            <a:r>
              <a:rPr lang="en-US" dirty="0"/>
              <a:t>Discharge setting and prior utilization drive risk ranking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D126362-51F5-268C-601B-62C9C7405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D49B14-168D-E056-49DB-70F5F1750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018579" y="2061835"/>
            <a:ext cx="4363044" cy="45373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22393F-5CEC-2DC3-5720-61262BC76167}"/>
              </a:ext>
            </a:extLst>
          </p:cNvPr>
          <p:cNvSpPr txBox="1"/>
          <p:nvPr/>
        </p:nvSpPr>
        <p:spPr>
          <a:xfrm>
            <a:off x="0" y="2006594"/>
            <a:ext cx="3229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Discharge to home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575C02-28FB-822D-2CCB-29E5E41D2C33}"/>
              </a:ext>
            </a:extLst>
          </p:cNvPr>
          <p:cNvCxnSpPr/>
          <p:nvPr/>
        </p:nvCxnSpPr>
        <p:spPr>
          <a:xfrm>
            <a:off x="386811" y="2338519"/>
            <a:ext cx="631767" cy="74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109494C-A502-C4C7-3494-82144C0CCBCF}"/>
              </a:ext>
            </a:extLst>
          </p:cNvPr>
          <p:cNvSpPr txBox="1"/>
          <p:nvPr/>
        </p:nvSpPr>
        <p:spPr>
          <a:xfrm>
            <a:off x="7207135" y="2992582"/>
            <a:ext cx="3283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Leading Signals 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F197BD-369B-BAB5-65CA-E8213D1DA2C0}"/>
              </a:ext>
            </a:extLst>
          </p:cNvPr>
          <p:cNvSpPr txBox="1"/>
          <p:nvPr/>
        </p:nvSpPr>
        <p:spPr>
          <a:xfrm>
            <a:off x="6708371" y="3361914"/>
            <a:ext cx="2718262" cy="206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5DF350-89B4-CD80-666E-88DB434C61D5}"/>
              </a:ext>
            </a:extLst>
          </p:cNvPr>
          <p:cNvSpPr txBox="1"/>
          <p:nvPr/>
        </p:nvSpPr>
        <p:spPr>
          <a:xfrm>
            <a:off x="7572895" y="3469502"/>
            <a:ext cx="3108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Discharge destination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Previous inpatient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Length of stage</a:t>
            </a:r>
          </a:p>
        </p:txBody>
      </p:sp>
    </p:spTree>
    <p:extLst>
      <p:ext uri="{BB962C8B-B14F-4D97-AF65-F5344CB8AC3E}">
        <p14:creationId xmlns:p14="http://schemas.microsoft.com/office/powerpoint/2010/main" val="1804004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7B6A8-6531-5D5B-7384-3F1FC8CB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AA200A-6E66-9C1B-C3EB-BA6032D9D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EEE188D-A968-5AAE-938B-5D42BFD8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7F01A-D5FC-A456-937F-D7F341C5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70" y="157504"/>
            <a:ext cx="10367781" cy="1330841"/>
          </a:xfrm>
        </p:spPr>
        <p:txBody>
          <a:bodyPr>
            <a:normAutofit/>
          </a:bodyPr>
          <a:lstStyle/>
          <a:p>
            <a:r>
              <a:rPr lang="en-US" dirty="0"/>
              <a:t>Age disparity requires explicit mitigation &amp; monitoring 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273C6FB-022E-4859-1022-3D1C0DE29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FD45DDE-A49B-5D5D-87BF-87C304049A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7484926"/>
              </p:ext>
            </p:extLst>
          </p:nvPr>
        </p:nvGraphicFramePr>
        <p:xfrm>
          <a:off x="368531" y="2061836"/>
          <a:ext cx="65722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19C1AF-BC65-6AC7-FC0A-298575ABC1C1}"/>
              </a:ext>
            </a:extLst>
          </p:cNvPr>
          <p:cNvSpPr txBox="1"/>
          <p:nvPr/>
        </p:nvSpPr>
        <p:spPr>
          <a:xfrm>
            <a:off x="1903615" y="6059978"/>
            <a:ext cx="3649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Fairness risk at selected threshold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4CA99F-42F7-74D4-9CBD-73A9BD593EF8}"/>
              </a:ext>
            </a:extLst>
          </p:cNvPr>
          <p:cNvSpPr txBox="1"/>
          <p:nvPr/>
        </p:nvSpPr>
        <p:spPr>
          <a:xfrm>
            <a:off x="7431333" y="1791914"/>
            <a:ext cx="4782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Largest concern:</a:t>
            </a:r>
          </a:p>
          <a:p>
            <a:r>
              <a:rPr lang="en-US" dirty="0"/>
              <a:t>Older patients are flagged much more often, including older patients who are not readmitted.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F701AE-CFF6-A03A-5D76-6E94E24BA5AE}"/>
              </a:ext>
            </a:extLst>
          </p:cNvPr>
          <p:cNvSpPr txBox="1"/>
          <p:nvPr/>
        </p:nvSpPr>
        <p:spPr>
          <a:xfrm>
            <a:off x="7431333" y="3966852"/>
            <a:ext cx="47133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Required response: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Prospective subgroup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Confidence intervals and intersectional analyses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Monitor access, uptake and outcomes</a:t>
            </a:r>
          </a:p>
        </p:txBody>
      </p:sp>
    </p:spTree>
    <p:extLst>
      <p:ext uri="{BB962C8B-B14F-4D97-AF65-F5344CB8AC3E}">
        <p14:creationId xmlns:p14="http://schemas.microsoft.com/office/powerpoint/2010/main" val="337508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C12E2-AFAB-CFB4-5A23-17839050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1C8E1E-B628-17F7-9CDC-F01F7FD88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836B34-0876-5A6C-762B-EFA37C925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A6236-20D8-2BC6-61D8-0AB158586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70" y="157504"/>
            <a:ext cx="10367781" cy="1330841"/>
          </a:xfrm>
        </p:spPr>
        <p:txBody>
          <a:bodyPr>
            <a:normAutofit/>
          </a:bodyPr>
          <a:lstStyle/>
          <a:p>
            <a:r>
              <a:rPr lang="en-US" dirty="0"/>
              <a:t>A prospective pilot should test clinical &amp; economic value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A287AB1-3121-CB75-052D-A8A92754E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6C7F2-9438-FF2D-0643-8E6AC1D4C98E}"/>
              </a:ext>
            </a:extLst>
          </p:cNvPr>
          <p:cNvSpPr txBox="1"/>
          <p:nvPr/>
        </p:nvSpPr>
        <p:spPr>
          <a:xfrm>
            <a:off x="3832168" y="1979249"/>
            <a:ext cx="438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proposed workflow for evaluation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7E140-0ECE-C697-24E9-95EF3C459DA8}"/>
              </a:ext>
            </a:extLst>
          </p:cNvPr>
          <p:cNvSpPr/>
          <p:nvPr/>
        </p:nvSpPr>
        <p:spPr>
          <a:xfrm>
            <a:off x="1598448" y="2685011"/>
            <a:ext cx="8889809" cy="6485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1. LOCAL VALIDATION : confirm data mapping, calibration, subgroup performance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6C7D56-1724-2DC0-02C6-2E12F1DF41D6}"/>
              </a:ext>
            </a:extLst>
          </p:cNvPr>
          <p:cNvSpPr/>
          <p:nvPr/>
        </p:nvSpPr>
        <p:spPr>
          <a:xfrm>
            <a:off x="648393" y="3527174"/>
            <a:ext cx="10756669" cy="6485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SILENT TRIAL : Generate scores to test workflow &amp; stability (no care action performed yet)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B4CDD4-8D85-67A2-6D3B-9E0BC84054CD}"/>
              </a:ext>
            </a:extLst>
          </p:cNvPr>
          <p:cNvSpPr/>
          <p:nvPr/>
        </p:nvSpPr>
        <p:spPr>
          <a:xfrm>
            <a:off x="648392" y="4333206"/>
            <a:ext cx="10756669" cy="6485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CONTROLLED PILOT : Offer low-risk support and compare readmission, uptake and workload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B9A8CA-88A3-78ED-FB7B-250C5F4129EF}"/>
              </a:ext>
            </a:extLst>
          </p:cNvPr>
          <p:cNvSpPr/>
          <p:nvPr/>
        </p:nvSpPr>
        <p:spPr>
          <a:xfrm>
            <a:off x="665017" y="5139238"/>
            <a:ext cx="10756669" cy="6485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SCALE : Expand only if benefits, fairness and costs meet target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DA1B106-FB25-5DFF-7318-1DC79505558B}"/>
              </a:ext>
            </a:extLst>
          </p:cNvPr>
          <p:cNvSpPr/>
          <p:nvPr/>
        </p:nvSpPr>
        <p:spPr>
          <a:xfrm>
            <a:off x="5689155" y="3207727"/>
            <a:ext cx="337571" cy="3240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DF8117D-F3F8-2617-C043-178EB94CC2BF}"/>
              </a:ext>
            </a:extLst>
          </p:cNvPr>
          <p:cNvSpPr/>
          <p:nvPr/>
        </p:nvSpPr>
        <p:spPr>
          <a:xfrm>
            <a:off x="5689155" y="4109700"/>
            <a:ext cx="337571" cy="3240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3A5DC1AA-E564-6081-D5A5-49262C6B3DB2}"/>
              </a:ext>
            </a:extLst>
          </p:cNvPr>
          <p:cNvSpPr/>
          <p:nvPr/>
        </p:nvSpPr>
        <p:spPr>
          <a:xfrm>
            <a:off x="5689153" y="4940851"/>
            <a:ext cx="337571" cy="3240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02A5AB-3C01-9AF4-0A81-5DBF515C72B6}"/>
              </a:ext>
            </a:extLst>
          </p:cNvPr>
          <p:cNvSpPr txBox="1"/>
          <p:nvPr/>
        </p:nvSpPr>
        <p:spPr>
          <a:xfrm>
            <a:off x="828948" y="6138246"/>
            <a:ext cx="10937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The model can help prioritize who received extra support, but it cannot determine who deserves care</a:t>
            </a:r>
          </a:p>
        </p:txBody>
      </p:sp>
    </p:spTree>
    <p:extLst>
      <p:ext uri="{BB962C8B-B14F-4D97-AF65-F5344CB8AC3E}">
        <p14:creationId xmlns:p14="http://schemas.microsoft.com/office/powerpoint/2010/main" val="3815534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40</TotalTime>
  <Words>425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30 day Readmission Risk </vt:lpstr>
      <vt:lpstr>PowerPoint Presentation</vt:lpstr>
      <vt:lpstr>Evidence : Large and Historical</vt:lpstr>
      <vt:lpstr>The model finds two-thirds of early readmissions</vt:lpstr>
      <vt:lpstr>Current threshold flags 46.5% of test population</vt:lpstr>
      <vt:lpstr>Discharge setting and prior utilization drive risk ranking</vt:lpstr>
      <vt:lpstr>Age disparity requires explicit mitigation &amp; monitoring </vt:lpstr>
      <vt:lpstr>A prospective pilot should test clinical &amp; economic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Kavishna Ranmali Kalamba Arachchi</dc:creator>
  <cp:lastModifiedBy>Kavishna Ranmali Kalamba Arachchi</cp:lastModifiedBy>
  <cp:revision>1</cp:revision>
  <dcterms:created xsi:type="dcterms:W3CDTF">2026-09-24T11:15:42Z</dcterms:created>
  <dcterms:modified xsi:type="dcterms:W3CDTF">2026-09-24T11:56:17Z</dcterms:modified>
</cp:coreProperties>
</file>